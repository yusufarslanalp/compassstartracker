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7" r:id="rId3"/>
    <p:sldId id="351" r:id="rId4"/>
    <p:sldId id="350" r:id="rId5"/>
    <p:sldId id="353" r:id="rId6"/>
    <p:sldId id="355" r:id="rId7"/>
    <p:sldId id="279" r:id="rId8"/>
    <p:sldId id="354" r:id="rId9"/>
    <p:sldId id="356" r:id="rId10"/>
    <p:sldId id="346" r:id="rId11"/>
    <p:sldId id="349" r:id="rId12"/>
    <p:sldId id="360" r:id="rId13"/>
    <p:sldId id="357" r:id="rId14"/>
    <p:sldId id="359" r:id="rId15"/>
    <p:sldId id="358" r:id="rId16"/>
    <p:sldId id="269" r:id="rId17"/>
    <p:sldId id="345" r:id="rId18"/>
    <p:sldId id="270" r:id="rId19"/>
  </p:sldIdLst>
  <p:sldSz cx="9144000" cy="6858000" type="screen4x3"/>
  <p:notesSz cx="6858000" cy="9144000"/>
  <p:defaultTextStyle>
    <a:defPPr>
      <a:defRPr lang="tr-T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8E34"/>
    <a:srgbClr val="FFFFCC"/>
    <a:srgbClr val="050121"/>
    <a:srgbClr val="333333"/>
    <a:srgbClr val="580000"/>
    <a:srgbClr val="969696"/>
    <a:srgbClr val="DDDDDD"/>
    <a:srgbClr val="FEDAD6"/>
    <a:srgbClr val="5D0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4" autoAdjust="0"/>
    <p:restoredTop sz="94660"/>
  </p:normalViewPr>
  <p:slideViewPr>
    <p:cSldViewPr>
      <p:cViewPr varScale="1">
        <p:scale>
          <a:sx n="80" d="100"/>
          <a:sy n="80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41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92B237D-9950-4EB0-91B3-0FEC519831C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232569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noProof="0"/>
              <a:t>Click to edit Master text styles</a:t>
            </a:r>
          </a:p>
          <a:p>
            <a:pPr lvl="1"/>
            <a:r>
              <a:rPr lang="tr-TR" noProof="0"/>
              <a:t>Second level</a:t>
            </a:r>
          </a:p>
          <a:p>
            <a:pPr lvl="2"/>
            <a:r>
              <a:rPr lang="tr-TR" noProof="0"/>
              <a:t>Third level</a:t>
            </a:r>
          </a:p>
          <a:p>
            <a:pPr lvl="3"/>
            <a:r>
              <a:rPr lang="tr-TR" noProof="0"/>
              <a:t>Fourth level</a:t>
            </a:r>
          </a:p>
          <a:p>
            <a:pPr lvl="4"/>
            <a:r>
              <a:rPr lang="tr-TR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tr-T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0A91FC6-3D07-4992-B64E-8B2198E1DD7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965162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5DFD33A-21C6-4B9C-9B8B-CD137966CD27}" type="slidenum">
              <a:rPr lang="tr-TR" altLang="en-US"/>
              <a:pPr>
                <a:spcBef>
                  <a:spcPct val="0"/>
                </a:spcBef>
              </a:pPr>
              <a:t>1</a:t>
            </a:fld>
            <a:endParaRPr lang="tr-TR" altLang="en-US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9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/>
          <p:cNvSpPr txBox="1">
            <a:spLocks noChangeArrowheads="1"/>
          </p:cNvSpPr>
          <p:nvPr userDrawn="1"/>
        </p:nvSpPr>
        <p:spPr bwMode="auto">
          <a:xfrm>
            <a:off x="5943600" y="200025"/>
            <a:ext cx="2743200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000" b="1">
                <a:solidFill>
                  <a:srgbClr val="FFFFCC"/>
                </a:solidFill>
                <a:latin typeface="Tahoma" pitchFamily="34" charset="0"/>
              </a:rPr>
              <a:t>Bilgisayar Mühendisliği Bölümü</a:t>
            </a:r>
          </a:p>
        </p:txBody>
      </p:sp>
      <p:sp>
        <p:nvSpPr>
          <p:cNvPr id="901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tr-TR"/>
              <a:t>Click to edit Master subtitle style</a:t>
            </a:r>
          </a:p>
        </p:txBody>
      </p:sp>
      <p:sp>
        <p:nvSpPr>
          <p:cNvPr id="90120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66800" y="2057400"/>
            <a:ext cx="70866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tr-TR"/>
              <a:t>Click to edit Master title style</a:t>
            </a:r>
          </a:p>
        </p:txBody>
      </p:sp>
      <p:sp>
        <p:nvSpPr>
          <p:cNvPr id="9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pic>
        <p:nvPicPr>
          <p:cNvPr id="11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57150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79752"/>
            <a:ext cx="2786738" cy="174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39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" y="914400"/>
            <a:ext cx="7391400" cy="541020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EA505-76AA-495E-815C-8AF94549A6BB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65808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dirty="0"/>
              <a:t>As</a:t>
            </a:r>
            <a:r>
              <a:rPr lang="en-US" dirty="0"/>
              <a:t>I</a:t>
            </a:r>
            <a:r>
              <a:rPr lang="tr-TR" dirty="0"/>
              <a:t>l başl</a:t>
            </a:r>
            <a:r>
              <a:rPr lang="en-US" dirty="0"/>
              <a:t>I</a:t>
            </a:r>
            <a:r>
              <a:rPr lang="tr-TR" dirty="0"/>
              <a:t>k st</a:t>
            </a:r>
            <a:r>
              <a:rPr lang="en-US" dirty="0"/>
              <a:t>İ</a:t>
            </a:r>
            <a:r>
              <a:rPr lang="tr-TR" dirty="0"/>
              <a:t>l</a:t>
            </a:r>
            <a:r>
              <a:rPr lang="en-US" dirty="0"/>
              <a:t>İ</a:t>
            </a:r>
            <a:r>
              <a:rPr lang="tr-TR" dirty="0"/>
              <a:t> </a:t>
            </a:r>
            <a:r>
              <a:rPr lang="en-US" dirty="0"/>
              <a:t>İ</a:t>
            </a:r>
            <a:r>
              <a:rPr lang="tr-TR" dirty="0"/>
              <a:t>ç</a:t>
            </a:r>
            <a:r>
              <a:rPr lang="en-US" dirty="0"/>
              <a:t>İ</a:t>
            </a:r>
            <a:r>
              <a:rPr lang="tr-TR" dirty="0"/>
              <a:t>n t</a:t>
            </a:r>
            <a:r>
              <a:rPr lang="en-US" dirty="0"/>
              <a:t>I</a:t>
            </a:r>
            <a:r>
              <a:rPr lang="tr-TR" dirty="0"/>
              <a:t>klat</a:t>
            </a:r>
            <a:r>
              <a:rPr lang="en-US" dirty="0"/>
              <a:t>I</a:t>
            </a:r>
            <a:r>
              <a:rPr lang="tr-TR" dirty="0"/>
              <a:t>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4D7A41-DB7E-4B7C-B1E7-203553C448B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5320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3434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E408D4-2E9F-4A26-A3CA-FB0C52E2551E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3787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6200" y="-15240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83EE2D-B193-4DF7-8E07-E2831ABD391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1449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0A55CB-0D82-4FA8-8283-1D0C577030E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37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E3BFC5-E015-41F6-9033-8F7EE7066BAD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9650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9A257-28E3-40ED-A2ED-369606B291D9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96285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9FACF8-D009-4AE7-A9E5-7C11E06AD1DC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57693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EBBE5D-72DA-403E-982F-97DD55B39862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1134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781800" y="106363"/>
            <a:ext cx="2209800" cy="6218237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" y="106363"/>
            <a:ext cx="6477000" cy="621823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5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6C3EE3-4607-44C8-828A-37A7AE255143}" type="slidenum">
              <a:rPr lang="tr-TR" altLang="en-US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43115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06363"/>
            <a:ext cx="8534400" cy="579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795CC5-F219-49B7-9754-EF0E854EBEB8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8137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9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914400"/>
            <a:ext cx="883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Click to edit Master text styles</a:t>
            </a:r>
          </a:p>
          <a:p>
            <a:pPr lvl="1"/>
            <a:r>
              <a:rPr lang="tr-TR" altLang="en-US" dirty="0"/>
              <a:t>Second level</a:t>
            </a:r>
          </a:p>
          <a:p>
            <a:pPr lvl="2"/>
            <a:r>
              <a:rPr lang="tr-TR" altLang="en-US" dirty="0"/>
              <a:t>Third level</a:t>
            </a:r>
          </a:p>
          <a:p>
            <a:pPr lvl="3"/>
            <a:r>
              <a:rPr lang="tr-TR" altLang="en-US" dirty="0"/>
              <a:t>Fourth level</a:t>
            </a:r>
          </a:p>
          <a:p>
            <a:pPr lvl="4"/>
            <a:r>
              <a:rPr lang="tr-TR" altLang="en-US" dirty="0"/>
              <a:t>Fifth level</a:t>
            </a:r>
          </a:p>
        </p:txBody>
      </p:sp>
      <p:sp>
        <p:nvSpPr>
          <p:cNvPr id="35890" name="Rectangle 5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457200" cy="76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rgbClr val="FFFFE5"/>
                </a:solidFill>
              </a:defRPr>
            </a:lvl1pPr>
          </a:lstStyle>
          <a:p>
            <a:fld id="{68795CC5-F219-49B7-9754-EF0E854EBEB8}" type="slidenum">
              <a:rPr lang="tr-TR" altLang="en-US"/>
              <a:pPr/>
              <a:t>‹#›</a:t>
            </a:fld>
            <a:endParaRPr lang="tr-TR" altLang="en-US"/>
          </a:p>
        </p:txBody>
      </p:sp>
      <p:sp>
        <p:nvSpPr>
          <p:cNvPr id="1030" name="Rectangle 53"/>
          <p:cNvSpPr>
            <a:spLocks noChangeArrowheads="1"/>
          </p:cNvSpPr>
          <p:nvPr userDrawn="1"/>
        </p:nvSpPr>
        <p:spPr bwMode="auto">
          <a:xfrm>
            <a:off x="0" y="10486"/>
            <a:ext cx="9144000" cy="762000"/>
          </a:xfrm>
          <a:prstGeom prst="rect">
            <a:avLst/>
          </a:prstGeom>
          <a:gradFill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5">
                  <a:lumMod val="50000"/>
                </a:schemeClr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tr-TR" altLang="tr-TR"/>
          </a:p>
        </p:txBody>
      </p:sp>
      <p:sp>
        <p:nvSpPr>
          <p:cNvPr id="103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06363"/>
            <a:ext cx="7848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altLang="en-US" dirty="0"/>
              <a:t>Başlık</a:t>
            </a:r>
          </a:p>
        </p:txBody>
      </p:sp>
      <p:sp>
        <p:nvSpPr>
          <p:cNvPr id="3" name="Text Box 68"/>
          <p:cNvSpPr txBox="1">
            <a:spLocks noChangeArrowheads="1"/>
          </p:cNvSpPr>
          <p:nvPr userDrawn="1"/>
        </p:nvSpPr>
        <p:spPr bwMode="auto">
          <a:xfrm>
            <a:off x="1447800" y="6536422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GT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Ü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-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tr-T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Bilgisayar Mühendisliği Bölümü</a:t>
            </a:r>
          </a:p>
        </p:txBody>
      </p:sp>
      <p:pic>
        <p:nvPicPr>
          <p:cNvPr id="1039" name="Picture 15" descr="C:\Users\rehin99\Desktop\bil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3" y="5867400"/>
            <a:ext cx="985007" cy="985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:\Users\rehin99\Desktop\gtu-logo.pn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43955"/>
            <a:ext cx="1110043" cy="695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Box 68"/>
          <p:cNvSpPr txBox="1">
            <a:spLocks noChangeArrowheads="1"/>
          </p:cNvSpPr>
          <p:nvPr userDrawn="1"/>
        </p:nvSpPr>
        <p:spPr bwMode="auto">
          <a:xfrm>
            <a:off x="4572000" y="6529000"/>
            <a:ext cx="312420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BİL 495/496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Bitirme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Projesi</a:t>
            </a:r>
            <a:r>
              <a:rPr 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Batang" pitchFamily="18" charset="-127"/>
              </a:rPr>
              <a:t> </a:t>
            </a:r>
            <a:endParaRPr lang="tr-T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Batang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DDDDD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guilfordgeo.com/geo340/Navigation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2209800"/>
            <a:ext cx="8763000" cy="25908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Compass Star Tracker</a:t>
            </a:r>
            <a:br>
              <a:rPr lang="tr-TR" altLang="en-US" sz="3600" dirty="0"/>
            </a:br>
            <a:r>
              <a:rPr lang="tr-TR" altLang="en-US" sz="3600" dirty="0"/>
              <a:t>Mobile </a:t>
            </a:r>
            <a:r>
              <a:rPr lang="tr-TR" altLang="en-US" sz="3600" dirty="0" err="1"/>
              <a:t>App</a:t>
            </a:r>
            <a:br>
              <a:rPr lang="tr-TR" altLang="en-US" sz="3600" dirty="0"/>
            </a:br>
            <a:br>
              <a:rPr lang="tr-TR" altLang="en-US" sz="3600" dirty="0"/>
            </a:br>
            <a:r>
              <a:rPr lang="tr-TR" altLang="en-US" sz="3600" dirty="0"/>
              <a:t>GT</a:t>
            </a:r>
            <a:r>
              <a:rPr lang="en-US" altLang="en-US" sz="3600" dirty="0"/>
              <a:t>U</a:t>
            </a:r>
            <a:r>
              <a:rPr lang="tr-TR" altLang="en-US" sz="3600" dirty="0"/>
              <a:t> </a:t>
            </a:r>
            <a:r>
              <a:rPr lang="en-US" altLang="en-US" sz="3600" dirty="0"/>
              <a:t>COMPUTER</a:t>
            </a:r>
            <a:r>
              <a:rPr lang="tr-TR" altLang="en-US" sz="3600" dirty="0"/>
              <a:t> </a:t>
            </a:r>
            <a:r>
              <a:rPr lang="en-US" altLang="en-US" sz="3600" dirty="0"/>
              <a:t>ENG</a:t>
            </a:r>
            <a:r>
              <a:rPr lang="tr-TR" altLang="en-US" sz="3600" dirty="0"/>
              <a:t> </a:t>
            </a:r>
            <a:r>
              <a:rPr lang="en-US" altLang="en-US" sz="3600" dirty="0"/>
              <a:t>CSE</a:t>
            </a:r>
            <a:r>
              <a:rPr lang="tr-TR" altLang="en-US" sz="3600" dirty="0"/>
              <a:t> 496</a:t>
            </a:r>
            <a:br>
              <a:rPr lang="tr-TR" altLang="en-US" sz="3600" dirty="0"/>
            </a:br>
            <a:r>
              <a:rPr lang="tr-TR" altLang="en-US" sz="3600" dirty="0"/>
              <a:t>FINAL </a:t>
            </a:r>
            <a:r>
              <a:rPr lang="en-US" altLang="en-US" sz="3600" dirty="0"/>
              <a:t>PRESENTATION</a:t>
            </a:r>
            <a:endParaRPr lang="tr-TR" altLang="en-US" sz="3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953000"/>
            <a:ext cx="6400800" cy="2286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tr-TR" altLang="en-US" sz="14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b="1" dirty="0"/>
              <a:t>Yusuf Abdullah ARSLANALP</a:t>
            </a: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2000" b="1" dirty="0"/>
              <a:t>Proje Danışmanı: </a:t>
            </a:r>
            <a:r>
              <a:rPr lang="en-US" altLang="en-US" sz="2000" b="1" dirty="0"/>
              <a:t>Prof</a:t>
            </a:r>
            <a:r>
              <a:rPr lang="tr-TR" altLang="en-US" sz="2000" b="1" dirty="0"/>
              <a:t>.</a:t>
            </a:r>
            <a:r>
              <a:rPr lang="en-US" altLang="en-US" sz="2000" b="1" dirty="0"/>
              <a:t> Dr.</a:t>
            </a:r>
            <a:r>
              <a:rPr lang="tr-TR" altLang="en-US" sz="2000" b="1" dirty="0"/>
              <a:t> </a:t>
            </a:r>
            <a:r>
              <a:rPr lang="en-US" altLang="en-US" sz="2000" b="1" dirty="0" err="1"/>
              <a:t>Hasari</a:t>
            </a:r>
            <a:r>
              <a:rPr lang="en-US" altLang="en-US" sz="2000" b="1" dirty="0"/>
              <a:t> ÇELEBİ</a:t>
            </a:r>
            <a:endParaRPr lang="tr-TR" altLang="en-US" sz="2000" b="1" dirty="0"/>
          </a:p>
          <a:p>
            <a:pPr eaLnBrk="1" hangingPunct="1">
              <a:lnSpc>
                <a:spcPct val="80000"/>
              </a:lnSpc>
            </a:pPr>
            <a:r>
              <a:rPr lang="tr-TR" altLang="en-US" sz="1800" b="1" dirty="0"/>
              <a:t>Kasım</a:t>
            </a:r>
            <a:r>
              <a:rPr lang="en-US" altLang="en-US" sz="1800" b="1" dirty="0"/>
              <a:t> 2021</a:t>
            </a:r>
            <a:endParaRPr lang="tr-TR" alt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ED054F-FB0B-4F9F-8508-286B83CB129D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Compass Star Tracker</a:t>
            </a:r>
            <a:endParaRPr lang="tr-TR" altLang="en-US" sz="4000" dirty="0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648200" y="1219200"/>
            <a:ext cx="4495800" cy="4876800"/>
          </a:xfrm>
          <a:noFill/>
        </p:spPr>
        <p:txBody>
          <a:bodyPr/>
          <a:lstStyle/>
          <a:p>
            <a:pPr marL="447675" indent="-447675" eaLnBrk="1" hangingPunct="1">
              <a:lnSpc>
                <a:spcPct val="80000"/>
              </a:lnSpc>
            </a:pPr>
            <a:r>
              <a:rPr lang="tr-TR" sz="2400" kern="1200" dirty="0">
                <a:latin typeface="Arial" charset="0"/>
              </a:rPr>
              <a:t>A GPS </a:t>
            </a:r>
            <a:r>
              <a:rPr lang="tr-TR" sz="2400" kern="1200" dirty="0" err="1">
                <a:latin typeface="Arial" charset="0"/>
              </a:rPr>
              <a:t>like</a:t>
            </a:r>
            <a:r>
              <a:rPr lang="tr-TR" sz="2400" kern="1200" dirty="0">
                <a:latin typeface="Arial" charset="0"/>
              </a:rPr>
              <a:t> </a:t>
            </a:r>
            <a:r>
              <a:rPr lang="tr-TR" sz="2400" kern="1200" dirty="0" err="1">
                <a:latin typeface="Arial" charset="0"/>
              </a:rPr>
              <a:t>application</a:t>
            </a:r>
            <a:r>
              <a:rPr lang="tr-TR" sz="2400" kern="1200" dirty="0">
                <a:latin typeface="Arial" charset="0"/>
              </a:rPr>
              <a:t>.</a:t>
            </a:r>
            <a:endParaRPr lang="en-US" sz="2400" kern="1200" dirty="0">
              <a:latin typeface="Arial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kern="1200" dirty="0">
              <a:latin typeface="Arial" charset="0"/>
            </a:endParaRPr>
          </a:p>
          <a:p>
            <a:pPr marL="447675" indent="-447675" eaLnBrk="1" hangingPunct="1">
              <a:lnSpc>
                <a:spcPct val="80000"/>
              </a:lnSpc>
            </a:pPr>
            <a:r>
              <a:rPr lang="en-US" altLang="en-US" sz="2400" kern="1200" dirty="0">
                <a:latin typeface="Arial" charset="0"/>
              </a:rPr>
              <a:t>No GPS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en-US" altLang="en-US" sz="2400" kern="1200" dirty="0">
                <a:latin typeface="Arial" charset="0"/>
              </a:rPr>
              <a:t>connection is needed.</a:t>
            </a:r>
            <a:endParaRPr lang="tr-TR" altLang="en-US" sz="2400" kern="1200" dirty="0">
              <a:latin typeface="Arial" charset="0"/>
            </a:endParaRPr>
          </a:p>
          <a:p>
            <a:pPr marL="447675" indent="-447675" eaLnBrk="1" hangingPunct="1">
              <a:lnSpc>
                <a:spcPct val="80000"/>
              </a:lnSpc>
            </a:pPr>
            <a:endParaRPr lang="tr-TR" altLang="en-US" sz="2400" kern="1200" dirty="0">
              <a:latin typeface="Arial" charset="0"/>
            </a:endParaRPr>
          </a:p>
          <a:p>
            <a:pPr marL="447675" indent="-447675" eaLnBrk="1" hangingPunct="1">
              <a:lnSpc>
                <a:spcPct val="80000"/>
              </a:lnSpc>
            </a:pPr>
            <a:r>
              <a:rPr lang="tr-TR" altLang="en-US" sz="2400" kern="1200" dirty="0" err="1">
                <a:latin typeface="Arial" charset="0"/>
              </a:rPr>
              <a:t>We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tr-TR" altLang="en-US" sz="2400" kern="1200" dirty="0" err="1">
                <a:latin typeface="Arial" charset="0"/>
              </a:rPr>
              <a:t>find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tr-TR" altLang="en-US" sz="2400" kern="1200" dirty="0" err="1">
                <a:latin typeface="Arial" charset="0"/>
              </a:rPr>
              <a:t>location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tr-TR" altLang="en-US" sz="2400" kern="1200" dirty="0" err="1">
                <a:latin typeface="Arial" charset="0"/>
              </a:rPr>
              <a:t>from</a:t>
            </a:r>
            <a:r>
              <a:rPr lang="tr-TR" altLang="en-US" sz="2400" kern="1200" dirty="0">
                <a:latin typeface="Arial" charset="0"/>
              </a:rPr>
              <a:t> a </a:t>
            </a:r>
            <a:r>
              <a:rPr lang="tr-TR" altLang="en-US" sz="2400" kern="1200" dirty="0" err="1">
                <a:latin typeface="Arial" charset="0"/>
              </a:rPr>
              <a:t>night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tr-TR" altLang="en-US" sz="2400" kern="1200" dirty="0" err="1">
                <a:latin typeface="Arial" charset="0"/>
              </a:rPr>
              <a:t>sky</a:t>
            </a:r>
            <a:r>
              <a:rPr lang="tr-TR" altLang="en-US" sz="2400" kern="1200" dirty="0">
                <a:latin typeface="Arial" charset="0"/>
              </a:rPr>
              <a:t> </a:t>
            </a:r>
            <a:r>
              <a:rPr lang="tr-TR" altLang="en-US" sz="2400" kern="1200" dirty="0" err="1">
                <a:latin typeface="Arial" charset="0"/>
              </a:rPr>
              <a:t>image</a:t>
            </a:r>
            <a:r>
              <a:rPr lang="tr-TR" altLang="en-US" sz="2400" kern="1200" dirty="0">
                <a:latin typeface="Arial" charset="0"/>
              </a:rPr>
              <a:t>.</a:t>
            </a:r>
            <a:endParaRPr lang="en-US" altLang="en-US" sz="2400" kern="1200" dirty="0">
              <a:latin typeface="Arial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400" kern="1200" dirty="0">
              <a:latin typeface="Arial" charset="0"/>
            </a:endParaRPr>
          </a:p>
        </p:txBody>
      </p:sp>
      <p:sp>
        <p:nvSpPr>
          <p:cNvPr id="9221" name="Rectangle 7"/>
          <p:cNvSpPr>
            <a:spLocks noChangeArrowheads="1"/>
          </p:cNvSpPr>
          <p:nvPr/>
        </p:nvSpPr>
        <p:spPr bwMode="auto">
          <a:xfrm>
            <a:off x="304800" y="4724400"/>
            <a:ext cx="441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7675" indent="-4476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tr-TR" altLang="en-US" sz="28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E1A543A9-0B83-4E10-86A7-FA97E88B5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06" y="1016406"/>
            <a:ext cx="3479394" cy="34793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 err="1"/>
              <a:t>Articales</a:t>
            </a:r>
            <a:endParaRPr lang="tr-TR" altLang="en-US" sz="40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79BB76-2CD3-4D22-8FAF-0EB4D18D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1066800"/>
            <a:ext cx="8841419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400" dirty="0"/>
              <a:t>Texas A&amp;M </a:t>
            </a:r>
            <a:r>
              <a:rPr lang="tr-TR" altLang="en-US" sz="2400" dirty="0" err="1"/>
              <a:t>University</a:t>
            </a:r>
            <a:endParaRPr lang="tr-TR" altLang="en-US" sz="2400" dirty="0"/>
          </a:p>
          <a:p>
            <a:pPr marL="0" lvl="1" indent="0" eaLnBrk="1" hangingPunct="1">
              <a:buNone/>
            </a:pPr>
            <a:r>
              <a:rPr lang="tr-TR" sz="2400" dirty="0"/>
              <a:t>         - </a:t>
            </a:r>
            <a:r>
              <a:rPr lang="en-US" sz="2400" dirty="0"/>
              <a:t>Compass star tracker for GPS-like applications</a:t>
            </a:r>
            <a:endParaRPr lang="tr-TR" sz="2400" dirty="0"/>
          </a:p>
          <a:p>
            <a:pPr marL="0" indent="0" algn="l">
              <a:buNone/>
            </a:pPr>
            <a:r>
              <a:rPr lang="tr-TR" altLang="en-US" sz="2400" dirty="0"/>
              <a:t>         -  </a:t>
            </a:r>
            <a:r>
              <a:rPr lang="en-US" sz="2400" dirty="0"/>
              <a:t>A P</a:t>
            </a:r>
            <a:r>
              <a:rPr lang="tr-TR" sz="2400" dirty="0" err="1"/>
              <a:t>roof</a:t>
            </a:r>
            <a:r>
              <a:rPr lang="tr-TR" sz="2400" dirty="0"/>
              <a:t> of </a:t>
            </a:r>
            <a:r>
              <a:rPr lang="tr-TR" sz="2400" dirty="0" err="1"/>
              <a:t>Concept</a:t>
            </a:r>
            <a:r>
              <a:rPr lang="en-US" sz="2400" dirty="0"/>
              <a:t> </a:t>
            </a:r>
            <a:r>
              <a:rPr lang="tr-TR" sz="2400" dirty="0" err="1"/>
              <a:t>Compass</a:t>
            </a:r>
            <a:r>
              <a:rPr lang="tr-TR" sz="2400" dirty="0"/>
              <a:t> Star</a:t>
            </a:r>
            <a:r>
              <a:rPr lang="en-US" sz="2400" dirty="0"/>
              <a:t> </a:t>
            </a:r>
            <a:r>
              <a:rPr lang="tr-TR" sz="2400" dirty="0" err="1"/>
              <a:t>Tracker</a:t>
            </a:r>
            <a:endParaRPr lang="tr-TR" sz="2400" dirty="0"/>
          </a:p>
          <a:p>
            <a:pPr marL="0" indent="0" algn="l">
              <a:buNone/>
            </a:pPr>
            <a:r>
              <a:rPr lang="tr-TR" altLang="en-US" sz="2400" dirty="0"/>
              <a:t>         -  Coordinate </a:t>
            </a:r>
            <a:r>
              <a:rPr lang="tr-TR" altLang="en-US" sz="2400" dirty="0" err="1"/>
              <a:t>determination</a:t>
            </a:r>
            <a:endParaRPr lang="tr-TR" altLang="en-US" sz="2400" dirty="0"/>
          </a:p>
          <a:p>
            <a:pPr eaLnBrk="1" hangingPunct="1"/>
            <a:endParaRPr lang="tr-TR" altLang="en-US" sz="2400" dirty="0"/>
          </a:p>
          <a:p>
            <a:pPr eaLnBrk="1" hangingPunct="1"/>
            <a:r>
              <a:rPr lang="tr-TR" altLang="en-US" sz="2400" dirty="0" err="1"/>
              <a:t>University</a:t>
            </a:r>
            <a:r>
              <a:rPr lang="tr-TR" altLang="en-US" sz="2400" dirty="0"/>
              <a:t> of </a:t>
            </a:r>
            <a:r>
              <a:rPr lang="tr-TR" altLang="en-US" sz="2400" dirty="0" err="1"/>
              <a:t>Chile</a:t>
            </a:r>
            <a:endParaRPr lang="tr-TR" altLang="en-US" sz="2400" dirty="0"/>
          </a:p>
          <a:p>
            <a:pPr marL="0" indent="0" algn="l">
              <a:buNone/>
            </a:pPr>
            <a:r>
              <a:rPr lang="tr-TR" altLang="en-US" sz="2400" dirty="0"/>
              <a:t>       - </a:t>
            </a:r>
            <a:r>
              <a:rPr lang="en-US" sz="2000" i="0" u="none" strike="noStrike" baseline="0" dirty="0">
                <a:latin typeface="+mn-lt"/>
              </a:rPr>
              <a:t>An Ultra-Low-Cost</a:t>
            </a:r>
            <a:r>
              <a:rPr lang="tr-TR" sz="2000" i="0" u="none" strike="noStrike" baseline="0" dirty="0">
                <a:latin typeface="+mn-lt"/>
              </a:rPr>
              <a:t> </a:t>
            </a:r>
            <a:r>
              <a:rPr lang="en-US" sz="2000" i="0" u="none" strike="noStrike" baseline="0" dirty="0">
                <a:latin typeface="+mn-lt"/>
              </a:rPr>
              <a:t>Star Tracker Concept Based on a</a:t>
            </a:r>
            <a:r>
              <a:rPr lang="tr-TR" sz="2000" i="0" u="none" strike="noStrike" baseline="0" dirty="0">
                <a:latin typeface="+mn-lt"/>
              </a:rPr>
              <a:t> </a:t>
            </a:r>
            <a:r>
              <a:rPr lang="en-US" sz="2000" i="0" u="none" strike="noStrike" baseline="0" dirty="0">
                <a:latin typeface="+mn-lt"/>
              </a:rPr>
              <a:t>Raspberry</a:t>
            </a:r>
            <a:r>
              <a:rPr lang="tr-TR" sz="2000" i="0" u="none" strike="noStrike" baseline="0" dirty="0">
                <a:latin typeface="+mn-lt"/>
              </a:rPr>
              <a:t>-</a:t>
            </a:r>
            <a:r>
              <a:rPr lang="en-US" sz="2000" i="0" u="none" strike="noStrike" baseline="0" dirty="0">
                <a:latin typeface="+mn-lt"/>
              </a:rPr>
              <a:t>Pi </a:t>
            </a:r>
            <a:r>
              <a:rPr lang="tr-TR" sz="2000" i="0" u="none" strike="noStrike" baseline="0" dirty="0">
                <a:latin typeface="+mn-lt"/>
              </a:rPr>
              <a:t>                           </a:t>
            </a:r>
            <a:r>
              <a:rPr lang="en-US" sz="2000" i="0" u="none" strike="noStrike" baseline="0" dirty="0">
                <a:latin typeface="+mn-lt"/>
              </a:rPr>
              <a:t>and Open-Source</a:t>
            </a:r>
            <a:r>
              <a:rPr lang="tr-TR" sz="2000" i="0" u="none" strike="noStrike" baseline="0" dirty="0">
                <a:latin typeface="+mn-lt"/>
              </a:rPr>
              <a:t> </a:t>
            </a:r>
            <a:r>
              <a:rPr lang="en-US" sz="2000" i="0" u="none" strike="noStrike" baseline="0" dirty="0">
                <a:latin typeface="+mn-lt"/>
              </a:rPr>
              <a:t>Astronomy Software</a:t>
            </a:r>
            <a:endParaRPr lang="tr-TR" sz="2000" i="0" u="none" strike="noStrike" baseline="0" dirty="0">
              <a:latin typeface="+mn-lt"/>
            </a:endParaRPr>
          </a:p>
          <a:p>
            <a:pPr marL="0" indent="0" algn="l">
              <a:buNone/>
            </a:pPr>
            <a:r>
              <a:rPr lang="tr-TR" altLang="en-US" sz="2000" dirty="0">
                <a:latin typeface="+mn-lt"/>
              </a:rPr>
              <a:t>         - </a:t>
            </a:r>
            <a:r>
              <a:rPr lang="tr-TR" altLang="en-US" sz="2000" dirty="0" err="1">
                <a:latin typeface="+mn-lt"/>
              </a:rPr>
              <a:t>Attitude</a:t>
            </a:r>
            <a:r>
              <a:rPr lang="tr-TR" altLang="en-US" sz="2000" dirty="0">
                <a:latin typeface="+mn-lt"/>
              </a:rPr>
              <a:t> </a:t>
            </a:r>
            <a:r>
              <a:rPr lang="tr-TR" altLang="en-US" sz="2000" dirty="0" err="1">
                <a:latin typeface="+mn-lt"/>
              </a:rPr>
              <a:t>determination</a:t>
            </a:r>
            <a:endParaRPr lang="tr-TR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246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8EE0422-2266-4A95-B758-2B774DCB5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3352800" cy="6858000"/>
          </a:xfrm>
          <a:prstGeom prst="rect">
            <a:avLst/>
          </a:prstGeom>
        </p:spPr>
      </p:pic>
      <p:pic>
        <p:nvPicPr>
          <p:cNvPr id="6" name="Resim 5" descr="metin içeren bir resim&#10;&#10;Açıklama otomatik olarak oluşturuldu">
            <a:extLst>
              <a:ext uri="{FF2B5EF4-FFF2-40B4-BE49-F238E27FC236}">
                <a16:creationId xmlns:a16="http://schemas.microsoft.com/office/drawing/2014/main" id="{3DC43332-95C3-4D4B-9C2E-9EA4A739A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0"/>
            <a:ext cx="3505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27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pic>
        <p:nvPicPr>
          <p:cNvPr id="3" name="Resim 2" descr="harita içeren bir resim&#10;&#10;Açıklama otomatik olarak oluşturuldu">
            <a:extLst>
              <a:ext uri="{FF2B5EF4-FFF2-40B4-BE49-F238E27FC236}">
                <a16:creationId xmlns:a16="http://schemas.microsoft.com/office/drawing/2014/main" id="{AB4F655D-96CA-45FB-81CD-208F577A1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0"/>
            <a:ext cx="352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4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 err="1"/>
              <a:t>Night</a:t>
            </a:r>
            <a:r>
              <a:rPr lang="tr-TR" altLang="en-US" sz="4000" dirty="0"/>
              <a:t> </a:t>
            </a:r>
            <a:r>
              <a:rPr lang="tr-TR" altLang="en-US" sz="4000" dirty="0" err="1"/>
              <a:t>Sky</a:t>
            </a:r>
            <a:r>
              <a:rPr lang="tr-TR" altLang="en-US" sz="4000" dirty="0"/>
              <a:t> Image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79BB76-2CD3-4D22-8FAF-0EB4D18D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8841419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endParaRPr lang="tr-TR" altLang="en-US" sz="2400" dirty="0"/>
          </a:p>
          <a:p>
            <a:pPr marL="0" indent="0" eaLnBrk="1" hangingPunct="1">
              <a:buNone/>
            </a:pPr>
            <a:endParaRPr lang="tr-TR" altLang="en-US" sz="20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8D76FD9-0908-4F7D-8933-F9756B37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990601"/>
            <a:ext cx="3657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/>
            <a:r>
              <a:rPr lang="tr-TR" altLang="en-US" sz="2000" dirty="0" err="1"/>
              <a:t>Tiny</a:t>
            </a:r>
            <a:r>
              <a:rPr lang="tr-TR" altLang="en-US" sz="2000" dirty="0"/>
              <a:t> </a:t>
            </a:r>
            <a:r>
              <a:rPr lang="tr-TR" altLang="en-US" sz="2000" dirty="0" err="1"/>
              <a:t>white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dots</a:t>
            </a:r>
            <a:r>
              <a:rPr lang="tr-TR" altLang="en-US" sz="2000" dirty="0"/>
              <a:t> in the image </a:t>
            </a:r>
            <a:r>
              <a:rPr lang="tr-TR" altLang="en-US" sz="2000" dirty="0" err="1"/>
              <a:t>are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stars</a:t>
            </a:r>
            <a:endParaRPr lang="tr-TR" altLang="en-US" sz="2000" dirty="0"/>
          </a:p>
        </p:txBody>
      </p:sp>
      <p:pic>
        <p:nvPicPr>
          <p:cNvPr id="4" name="Resim 3" descr="gece göğü içeren bir resim&#10;&#10;Açıklama otomatik olarak oluşturuldu">
            <a:extLst>
              <a:ext uri="{FF2B5EF4-FFF2-40B4-BE49-F238E27FC236}">
                <a16:creationId xmlns:a16="http://schemas.microsoft.com/office/drawing/2014/main" id="{DEE0D045-807A-42DA-A61C-A05893B65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71527"/>
            <a:ext cx="5781674" cy="601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5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How to Take Photo</a:t>
            </a:r>
            <a:endParaRPr lang="tr-TR" altLang="en-US" sz="40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724401" y="990600"/>
            <a:ext cx="4495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dirty="0"/>
              <a:t>While taking photo</a:t>
            </a:r>
            <a:r>
              <a:rPr lang="tr-TR" altLang="en-US" sz="2400" dirty="0"/>
              <a:t> of </a:t>
            </a:r>
            <a:r>
              <a:rPr lang="tr-TR" altLang="en-US" sz="2400" dirty="0" err="1"/>
              <a:t>night</a:t>
            </a:r>
            <a:r>
              <a:rPr lang="tr-TR" altLang="en-US" sz="2400" dirty="0"/>
              <a:t> </a:t>
            </a:r>
            <a:r>
              <a:rPr lang="tr-TR" altLang="en-US" sz="2400" dirty="0" err="1"/>
              <a:t>sky</a:t>
            </a:r>
            <a:r>
              <a:rPr lang="en-US" altLang="en-US" sz="2400" dirty="0"/>
              <a:t>, </a:t>
            </a:r>
            <a:r>
              <a:rPr lang="tr-TR" altLang="en-US" sz="2400" dirty="0"/>
              <a:t>the </a:t>
            </a:r>
            <a:r>
              <a:rPr lang="en-US" altLang="en-US" sz="2400" dirty="0"/>
              <a:t>camera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axis</a:t>
            </a:r>
            <a:r>
              <a:rPr lang="en-US" altLang="en-US" sz="2400" dirty="0"/>
              <a:t> </a:t>
            </a:r>
            <a:r>
              <a:rPr lang="tr-TR" altLang="en-US" sz="2400" dirty="0" err="1"/>
              <a:t>should</a:t>
            </a:r>
            <a:r>
              <a:rPr lang="tr-TR" altLang="en-US" sz="2400" dirty="0"/>
              <a:t> be </a:t>
            </a:r>
            <a:r>
              <a:rPr lang="tr-TR" altLang="en-US" sz="2400" dirty="0" err="1"/>
              <a:t>vertical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to</a:t>
            </a:r>
            <a:r>
              <a:rPr lang="tr-TR" altLang="en-US" sz="2400" dirty="0"/>
              <a:t> the </a:t>
            </a:r>
            <a:r>
              <a:rPr lang="tr-TR" altLang="en-US" sz="2400" dirty="0" err="1"/>
              <a:t>ground</a:t>
            </a:r>
            <a:r>
              <a:rPr lang="tr-TR" altLang="en-US" sz="2400" dirty="0"/>
              <a:t>.</a:t>
            </a:r>
          </a:p>
          <a:p>
            <a:pPr eaLnBrk="1" hangingPunct="1"/>
            <a:r>
              <a:rPr lang="tr-TR" altLang="en-US" sz="2400" dirty="0" err="1"/>
              <a:t>Other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wise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determined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location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will</a:t>
            </a:r>
            <a:r>
              <a:rPr lang="tr-TR" altLang="en-US" sz="2400" dirty="0"/>
              <a:t> be </a:t>
            </a:r>
            <a:r>
              <a:rPr lang="tr-TR" altLang="en-US" sz="2400" dirty="0" err="1"/>
              <a:t>wrong</a:t>
            </a:r>
            <a:r>
              <a:rPr lang="tr-TR" altLang="en-US" sz="2400" dirty="0"/>
              <a:t>.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1EC3F44-4A03-4C86-9992-EA915AA3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95400"/>
            <a:ext cx="3504240" cy="4191000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85D321E-DF8E-46AA-96B4-ED3A99019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029200"/>
            <a:ext cx="609599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400" dirty="0"/>
              <a:t>[2]</a:t>
            </a:r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134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 err="1"/>
              <a:t>Finding</a:t>
            </a:r>
            <a:r>
              <a:rPr lang="tr-TR" altLang="en-US" sz="4000" dirty="0"/>
              <a:t> </a:t>
            </a:r>
            <a:r>
              <a:rPr lang="tr-TR" altLang="en-US" sz="4000" dirty="0" err="1"/>
              <a:t>Cordinate</a:t>
            </a:r>
            <a:r>
              <a:rPr lang="tr-TR" altLang="en-US" sz="4000" dirty="0"/>
              <a:t> - </a:t>
            </a:r>
            <a:r>
              <a:rPr lang="tr-TR" altLang="en-US" sz="4000" dirty="0" err="1"/>
              <a:t>Attitude</a:t>
            </a:r>
            <a:endParaRPr lang="tr-TR" altLang="en-US" sz="40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79BB76-2CD3-4D22-8FAF-0EB4D18D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8841419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endParaRPr lang="tr-TR" altLang="en-US" sz="2400" dirty="0"/>
          </a:p>
          <a:p>
            <a:pPr marL="0" indent="0" eaLnBrk="1" hangingPunct="1">
              <a:buNone/>
            </a:pPr>
            <a:endParaRPr lang="tr-TR" altLang="en-US" sz="2000" dirty="0"/>
          </a:p>
        </p:txBody>
      </p:sp>
      <p:pic>
        <p:nvPicPr>
          <p:cNvPr id="3" name="Resim 2" descr="ok içeren bir resim&#10;&#10;Açıklama otomatik olarak oluşturuldu">
            <a:extLst>
              <a:ext uri="{FF2B5EF4-FFF2-40B4-BE49-F238E27FC236}">
                <a16:creationId xmlns:a16="http://schemas.microsoft.com/office/drawing/2014/main" id="{46A25525-6672-43B1-8381-733F0F298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38200"/>
            <a:ext cx="5572774" cy="4191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78D76FD9-0908-4F7D-8933-F9756B37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990601"/>
            <a:ext cx="36576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/>
            <a:r>
              <a:rPr lang="en-US" altLang="en-US" sz="2000" dirty="0"/>
              <a:t>Attitude is a set of angle. These angles are yaw, pitch and roll.</a:t>
            </a:r>
            <a:endParaRPr lang="tr-TR" altLang="en-US" sz="2000" dirty="0"/>
          </a:p>
          <a:p>
            <a:pPr lvl="1" eaLnBrk="1" hangingPunct="1"/>
            <a:endParaRPr lang="tr-TR" altLang="en-US" sz="2000" dirty="0"/>
          </a:p>
          <a:p>
            <a:pPr lvl="1" eaLnBrk="1" hangingPunct="1"/>
            <a:r>
              <a:rPr lang="en-US" altLang="en-US" sz="2000" dirty="0"/>
              <a:t>Attitude is orientation</a:t>
            </a:r>
            <a:r>
              <a:rPr lang="tr-TR" altLang="en-US" sz="2000" dirty="0"/>
              <a:t> </a:t>
            </a:r>
            <a:r>
              <a:rPr lang="en-US" altLang="en-US" sz="2000" dirty="0"/>
              <a:t>of</a:t>
            </a:r>
            <a:r>
              <a:rPr lang="tr-TR" altLang="en-US" sz="2000" dirty="0"/>
              <a:t> </a:t>
            </a:r>
            <a:r>
              <a:rPr lang="en-US" altLang="en-US" sz="2000" dirty="0"/>
              <a:t>an </a:t>
            </a:r>
            <a:r>
              <a:rPr lang="tr-TR" altLang="en-US" sz="2000" dirty="0"/>
              <a:t> </a:t>
            </a:r>
            <a:r>
              <a:rPr lang="en-US" altLang="en-US" sz="2000" dirty="0"/>
              <a:t>aerospace </a:t>
            </a:r>
            <a:r>
              <a:rPr lang="en-US" altLang="en-US" sz="2000" dirty="0" err="1"/>
              <a:t>vehic</a:t>
            </a:r>
            <a:r>
              <a:rPr lang="tr-TR" altLang="en-US" sz="2000" dirty="0"/>
              <a:t>e </a:t>
            </a:r>
            <a:r>
              <a:rPr lang="en-US" altLang="en-US" sz="2000" dirty="0"/>
              <a:t>with respect to</a:t>
            </a:r>
            <a:r>
              <a:rPr lang="tr-TR" altLang="en-US" sz="2000" dirty="0"/>
              <a:t> </a:t>
            </a:r>
            <a:r>
              <a:rPr lang="en-US" altLang="en-US" sz="2000" dirty="0"/>
              <a:t>an inertial frame</a:t>
            </a:r>
            <a:endParaRPr lang="tr-T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7734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75" y="146449"/>
            <a:ext cx="8763000" cy="579437"/>
          </a:xfrm>
        </p:spPr>
        <p:txBody>
          <a:bodyPr/>
          <a:lstStyle/>
          <a:p>
            <a:pPr eaLnBrk="1" hangingPunct="1"/>
            <a:r>
              <a:rPr lang="en-US" sz="4000" dirty="0"/>
              <a:t>SPEL - Open Star Tracker</a:t>
            </a:r>
            <a:endParaRPr lang="tr-TR" altLang="en-US" sz="4000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8D76FD9-0908-4F7D-8933-F9756B37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1"/>
            <a:ext cx="8686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/>
            <a:r>
              <a:rPr lang="tr-TR" altLang="en-US" sz="2000" dirty="0" err="1"/>
              <a:t>Find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attitude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from</a:t>
            </a:r>
            <a:r>
              <a:rPr lang="tr-TR" altLang="en-US" sz="2000" dirty="0"/>
              <a:t> </a:t>
            </a:r>
            <a:r>
              <a:rPr lang="tr-TR" altLang="en-US" sz="2000" dirty="0" err="1"/>
              <a:t>night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sky</a:t>
            </a:r>
            <a:r>
              <a:rPr lang="tr-TR" altLang="en-US" sz="2000" dirty="0"/>
              <a:t> image </a:t>
            </a:r>
            <a:r>
              <a:rPr lang="tr-TR" altLang="en-US" sz="2000" dirty="0" err="1"/>
              <a:t>with</a:t>
            </a:r>
            <a:r>
              <a:rPr lang="tr-TR" altLang="en-US" sz="2000" dirty="0"/>
              <a:t> </a:t>
            </a:r>
            <a:r>
              <a:rPr lang="tr-TR" altLang="en-US" sz="2000" dirty="0" err="1"/>
              <a:t>using</a:t>
            </a:r>
            <a:r>
              <a:rPr lang="tr-TR" altLang="en-US" sz="2000" dirty="0"/>
              <a:t> SPEL Software.</a:t>
            </a:r>
          </a:p>
          <a:p>
            <a:pPr lvl="1" eaLnBrk="1" hangingPunct="1"/>
            <a:endParaRPr lang="tr-TR" altLang="en-US" sz="2000" dirty="0"/>
          </a:p>
          <a:p>
            <a:pPr lvl="1" eaLnBrk="1" hangingPunct="1"/>
            <a:r>
              <a:rPr lang="tr-TR" altLang="en-US" sz="2000" dirty="0"/>
              <a:t>SPEL </a:t>
            </a:r>
            <a:r>
              <a:rPr lang="tr-TR" altLang="en-US" sz="2000" dirty="0" err="1"/>
              <a:t>compares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night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sky</a:t>
            </a:r>
            <a:r>
              <a:rPr lang="tr-TR" altLang="en-US" sz="2000" dirty="0"/>
              <a:t> image </a:t>
            </a:r>
            <a:r>
              <a:rPr lang="tr-TR" altLang="en-US" sz="2000" dirty="0" err="1"/>
              <a:t>with</a:t>
            </a:r>
            <a:r>
              <a:rPr lang="tr-TR" altLang="en-US" sz="2000" dirty="0"/>
              <a:t> a star </a:t>
            </a:r>
            <a:r>
              <a:rPr lang="tr-TR" altLang="en-US" sz="2000" dirty="0" err="1"/>
              <a:t>catalog</a:t>
            </a:r>
            <a:r>
              <a:rPr lang="tr-TR" altLang="en-US" sz="2000" dirty="0"/>
              <a:t>(</a:t>
            </a:r>
            <a:r>
              <a:rPr lang="tr-TR" altLang="en-US" sz="2000" dirty="0" err="1"/>
              <a:t>database</a:t>
            </a:r>
            <a:r>
              <a:rPr lang="tr-TR" altLang="en-US" sz="2000" dirty="0"/>
              <a:t>) </a:t>
            </a:r>
            <a:r>
              <a:rPr lang="tr-TR" altLang="en-US" sz="2000" dirty="0" err="1"/>
              <a:t>and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finds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attitude</a:t>
            </a:r>
            <a:r>
              <a:rPr lang="tr-TR" altLang="en-US" sz="2000" dirty="0"/>
              <a:t> of </a:t>
            </a:r>
            <a:r>
              <a:rPr lang="tr-TR" altLang="en-US" sz="2000" dirty="0" err="1"/>
              <a:t>camera</a:t>
            </a:r>
            <a:r>
              <a:rPr lang="tr-TR" alt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165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800" dirty="0"/>
              <a:t>Problem Formula</a:t>
            </a:r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159000" y="3124200"/>
            <a:ext cx="441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A4E4714-F6CB-4049-9B88-066305ECD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0"/>
            <a:ext cx="8534400" cy="25503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E37945C-B7CD-449B-AE8E-7D3A76D30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4038600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400" dirty="0"/>
              <a:t>I </a:t>
            </a:r>
            <a:r>
              <a:rPr lang="tr-TR" altLang="en-US" sz="2400" dirty="0" err="1"/>
              <a:t>have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implemented</a:t>
            </a:r>
            <a:r>
              <a:rPr lang="tr-TR" altLang="en-US" sz="2400" dirty="0"/>
              <a:t> f, g </a:t>
            </a:r>
            <a:r>
              <a:rPr lang="tr-TR" altLang="en-US" sz="2400" dirty="0" err="1"/>
              <a:t>and</a:t>
            </a:r>
            <a:r>
              <a:rPr lang="tr-TR" altLang="en-US" sz="2400" dirty="0"/>
              <a:t> h </a:t>
            </a:r>
            <a:r>
              <a:rPr lang="tr-TR" altLang="en-US" sz="2400" dirty="0" err="1"/>
              <a:t>functions</a:t>
            </a:r>
            <a:r>
              <a:rPr lang="tr-TR" altLang="en-US" sz="2400" dirty="0"/>
              <a:t>.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7707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000" dirty="0"/>
              <a:t>Application </a:t>
            </a:r>
            <a:r>
              <a:rPr lang="tr-TR" altLang="en-US" sz="4000" dirty="0" err="1"/>
              <a:t>Structure</a:t>
            </a:r>
            <a:endParaRPr lang="tr-TR" altLang="en-US" sz="4000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079BB76-2CD3-4D22-8FAF-0EB4D18D3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8841419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endParaRPr lang="tr-TR" altLang="en-US" sz="2400" dirty="0"/>
          </a:p>
          <a:p>
            <a:pPr marL="0" indent="0" eaLnBrk="1" hangingPunct="1">
              <a:buNone/>
            </a:pPr>
            <a:endParaRPr lang="tr-TR" altLang="en-US" sz="20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C10879B-8AE6-472A-913B-615F3923F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788985"/>
            <a:ext cx="5669176" cy="56118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1F77B5-5DF9-4F9D-BAC7-99C1A7824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876801"/>
            <a:ext cx="12954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2800" dirty="0"/>
              <a:t>Flutter</a:t>
            </a:r>
            <a:endParaRPr lang="en-US" altLang="en-US" sz="28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3658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800" dirty="0" err="1"/>
              <a:t>Night</a:t>
            </a:r>
            <a:r>
              <a:rPr lang="tr-TR" altLang="en-US" sz="4800" dirty="0"/>
              <a:t> </a:t>
            </a:r>
            <a:r>
              <a:rPr lang="tr-TR" altLang="en-US" sz="4800" dirty="0" err="1"/>
              <a:t>Sky</a:t>
            </a:r>
            <a:r>
              <a:rPr lang="tr-TR" altLang="en-US" sz="4800" dirty="0"/>
              <a:t> </a:t>
            </a:r>
            <a:r>
              <a:rPr lang="tr-TR" altLang="en-US" sz="4800" dirty="0" err="1"/>
              <a:t>Images</a:t>
            </a:r>
            <a:endParaRPr lang="tr-TR" altLang="en-US" sz="4800" dirty="0"/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159000" y="3124200"/>
            <a:ext cx="441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945C-B7CD-449B-AE8E-7D3A76D30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10668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images</a:t>
            </a:r>
            <a:r>
              <a:rPr lang="tr-TR" altLang="en-US" sz="2400" dirty="0"/>
              <a:t> in SPELL software. </a:t>
            </a:r>
            <a:r>
              <a:rPr lang="tr-TR" altLang="en-US" sz="2400" dirty="0" err="1"/>
              <a:t>Taken</a:t>
            </a:r>
            <a:r>
              <a:rPr lang="tr-TR" altLang="en-US" sz="2400" dirty="0"/>
              <a:t> in </a:t>
            </a:r>
            <a:r>
              <a:rPr lang="tr-TR" altLang="en-US" sz="2400" dirty="0" err="1"/>
              <a:t>Chili</a:t>
            </a:r>
            <a:r>
              <a:rPr lang="tr-TR" altLang="en-US" sz="2400" dirty="0"/>
              <a:t>.</a:t>
            </a:r>
          </a:p>
          <a:p>
            <a:pPr eaLnBrk="1" hangingPunct="1"/>
            <a:endParaRPr lang="tr-TR" altLang="en-US" sz="2400" dirty="0"/>
          </a:p>
          <a:p>
            <a:pPr eaLnBrk="1" hangingPunct="1"/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images</a:t>
            </a:r>
            <a:r>
              <a:rPr lang="tr-TR" altLang="en-US" sz="2400" dirty="0"/>
              <a:t> I </a:t>
            </a:r>
            <a:r>
              <a:rPr lang="tr-TR" altLang="en-US" sz="2400" dirty="0" err="1"/>
              <a:t>taken</a:t>
            </a:r>
            <a:r>
              <a:rPr lang="tr-TR" altLang="en-US" sz="2400" dirty="0"/>
              <a:t>. </a:t>
            </a:r>
            <a:r>
              <a:rPr lang="tr-TR" altLang="en-US" sz="2400" dirty="0" err="1"/>
              <a:t>Taken</a:t>
            </a:r>
            <a:r>
              <a:rPr lang="tr-TR" altLang="en-US" sz="2400" dirty="0"/>
              <a:t> in </a:t>
            </a:r>
            <a:r>
              <a:rPr lang="tr-TR" altLang="en-US" sz="2400" dirty="0" err="1"/>
              <a:t>Istanbul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56781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 err="1"/>
              <a:t>Results</a:t>
            </a:r>
            <a:endParaRPr lang="tr-TR" altLang="en-US" sz="40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5EEA26D-AC68-4B37-BF9D-B601A986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46167"/>
            <a:ext cx="6614287" cy="6188033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BE4415D9-6BA1-48B9-8C7E-B5AAC699D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5334000"/>
            <a:ext cx="2209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1600" dirty="0"/>
              <a:t>Calculated Coordinate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AF68A89-C4B0-4794-A9AB-85DD792AE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438400"/>
            <a:ext cx="2209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1600" dirty="0"/>
              <a:t>The place where the image taken</a:t>
            </a:r>
            <a:endParaRPr lang="en-US" altLang="en-US" sz="16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9879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How to Take Photo</a:t>
            </a:r>
            <a:endParaRPr lang="tr-TR" altLang="en-US" sz="40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724401" y="990600"/>
            <a:ext cx="4495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400" dirty="0"/>
              <a:t>While taking photo</a:t>
            </a:r>
            <a:r>
              <a:rPr lang="tr-TR" altLang="en-US" sz="2400" dirty="0"/>
              <a:t> of </a:t>
            </a:r>
            <a:r>
              <a:rPr lang="tr-TR" altLang="en-US" sz="2400" dirty="0" err="1"/>
              <a:t>night</a:t>
            </a:r>
            <a:r>
              <a:rPr lang="tr-TR" altLang="en-US" sz="2400" dirty="0"/>
              <a:t> </a:t>
            </a:r>
            <a:r>
              <a:rPr lang="tr-TR" altLang="en-US" sz="2400" dirty="0" err="1"/>
              <a:t>sky</a:t>
            </a:r>
            <a:r>
              <a:rPr lang="en-US" altLang="en-US" sz="2400" dirty="0"/>
              <a:t>, </a:t>
            </a:r>
            <a:r>
              <a:rPr lang="tr-TR" altLang="en-US" sz="2400" dirty="0"/>
              <a:t>the </a:t>
            </a:r>
            <a:r>
              <a:rPr lang="en-US" altLang="en-US" sz="2400" dirty="0"/>
              <a:t>camera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axis</a:t>
            </a:r>
            <a:r>
              <a:rPr lang="en-US" altLang="en-US" sz="2400" dirty="0"/>
              <a:t> </a:t>
            </a:r>
            <a:r>
              <a:rPr lang="tr-TR" altLang="en-US" sz="2400" dirty="0" err="1"/>
              <a:t>should</a:t>
            </a:r>
            <a:r>
              <a:rPr lang="tr-TR" altLang="en-US" sz="2400" dirty="0"/>
              <a:t> be </a:t>
            </a:r>
            <a:r>
              <a:rPr lang="tr-TR" altLang="en-US" sz="2400" dirty="0" err="1"/>
              <a:t>vertical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to</a:t>
            </a:r>
            <a:r>
              <a:rPr lang="tr-TR" altLang="en-US" sz="2400" dirty="0"/>
              <a:t> the </a:t>
            </a:r>
            <a:r>
              <a:rPr lang="tr-TR" altLang="en-US" sz="2400" dirty="0" err="1"/>
              <a:t>ground</a:t>
            </a:r>
            <a:r>
              <a:rPr lang="tr-TR" altLang="en-US" sz="2400" dirty="0"/>
              <a:t>.</a:t>
            </a:r>
          </a:p>
          <a:p>
            <a:pPr eaLnBrk="1" hangingPunct="1"/>
            <a:r>
              <a:rPr lang="tr-TR" altLang="en-US" sz="2400" dirty="0" err="1"/>
              <a:t>Other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wise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determined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location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will</a:t>
            </a:r>
            <a:r>
              <a:rPr lang="tr-TR" altLang="en-US" sz="2400" dirty="0"/>
              <a:t> be </a:t>
            </a:r>
            <a:r>
              <a:rPr lang="tr-TR" altLang="en-US" sz="2400" dirty="0" err="1"/>
              <a:t>wrong</a:t>
            </a:r>
            <a:r>
              <a:rPr lang="tr-TR" altLang="en-US" sz="2400" dirty="0"/>
              <a:t>.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21EC3F44-4A03-4C86-9992-EA915AA3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95400"/>
            <a:ext cx="3504240" cy="4191000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85D321E-DF8E-46AA-96B4-ED3A99019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029200"/>
            <a:ext cx="609599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400" dirty="0"/>
              <a:t>[2]</a:t>
            </a:r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78773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2B10-E9C3-45F2-9669-AE91C33CA2D2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8763000" cy="579437"/>
          </a:xfrm>
        </p:spPr>
        <p:txBody>
          <a:bodyPr/>
          <a:lstStyle/>
          <a:p>
            <a:pPr eaLnBrk="1" hangingPunct="1"/>
            <a:r>
              <a:rPr lang="tr-TR" altLang="en-US" sz="4800" dirty="0" err="1"/>
              <a:t>Results</a:t>
            </a:r>
            <a:endParaRPr lang="tr-TR" altLang="en-US" sz="4800" dirty="0"/>
          </a:p>
        </p:txBody>
      </p:sp>
      <p:sp>
        <p:nvSpPr>
          <p:cNvPr id="10245" name="Rectangle 7"/>
          <p:cNvSpPr>
            <a:spLocks noChangeArrowheads="1"/>
          </p:cNvSpPr>
          <p:nvPr/>
        </p:nvSpPr>
        <p:spPr bwMode="auto">
          <a:xfrm>
            <a:off x="2159000" y="3124200"/>
            <a:ext cx="4419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tr-TR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37945C-B7CD-449B-AE8E-7D3A76D30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1" y="1066800"/>
            <a:ext cx="8229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tr-TR" altLang="en-US" sz="2400" dirty="0" err="1"/>
              <a:t>Coordinates</a:t>
            </a:r>
            <a:r>
              <a:rPr lang="tr-TR" altLang="en-US" sz="2400" dirty="0"/>
              <a:t> </a:t>
            </a:r>
            <a:r>
              <a:rPr lang="tr-TR" altLang="en-US" sz="2400" dirty="0" err="1"/>
              <a:t>was</a:t>
            </a:r>
            <a:r>
              <a:rPr lang="tr-TR" altLang="en-US" sz="2400" dirty="0"/>
              <a:t> </a:t>
            </a:r>
            <a:r>
              <a:rPr lang="tr-TR" altLang="en-US" sz="2400" dirty="0" err="1"/>
              <a:t>determined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from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sample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images</a:t>
            </a:r>
            <a:r>
              <a:rPr lang="tr-TR" altLang="en-US" sz="2400" dirty="0"/>
              <a:t> in SPEL software.</a:t>
            </a:r>
          </a:p>
          <a:p>
            <a:pPr eaLnBrk="1" hangingPunct="1"/>
            <a:endParaRPr lang="tr-TR" altLang="en-US" sz="2400" dirty="0"/>
          </a:p>
          <a:p>
            <a:pPr eaLnBrk="1" hangingPunct="1"/>
            <a:r>
              <a:rPr lang="tr-TR" altLang="en-US" sz="2400" dirty="0"/>
              <a:t>User can </a:t>
            </a:r>
            <a:r>
              <a:rPr lang="tr-TR" altLang="en-US" sz="2400" dirty="0" err="1"/>
              <a:t>select</a:t>
            </a:r>
            <a:r>
              <a:rPr lang="tr-TR" altLang="en-US" sz="2400" dirty="0"/>
              <a:t> a </a:t>
            </a:r>
            <a:r>
              <a:rPr lang="tr-TR" altLang="en-US" sz="2400" dirty="0" err="1"/>
              <a:t>sample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night</a:t>
            </a:r>
            <a:r>
              <a:rPr lang="tr-TR" altLang="en-US" sz="2400" dirty="0"/>
              <a:t> </a:t>
            </a:r>
            <a:r>
              <a:rPr lang="tr-TR" altLang="en-US" sz="2400" dirty="0" err="1"/>
              <a:t>sky</a:t>
            </a:r>
            <a:r>
              <a:rPr lang="tr-TR" altLang="en-US" sz="2400" dirty="0"/>
              <a:t> </a:t>
            </a:r>
            <a:r>
              <a:rPr lang="tr-TR" altLang="en-US" sz="2400" dirty="0" err="1"/>
              <a:t>image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from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app</a:t>
            </a:r>
            <a:r>
              <a:rPr lang="tr-TR" altLang="en-US" sz="2400" dirty="0"/>
              <a:t> </a:t>
            </a:r>
            <a:r>
              <a:rPr lang="tr-TR" altLang="en-US" sz="2400" dirty="0" err="1"/>
              <a:t>and</a:t>
            </a:r>
            <a:r>
              <a:rPr lang="tr-TR" altLang="en-US" sz="2400" dirty="0"/>
              <a:t> </a:t>
            </a:r>
            <a:r>
              <a:rPr lang="tr-TR" altLang="en-US" sz="2400" dirty="0" err="1"/>
              <a:t>finds</a:t>
            </a:r>
            <a:r>
              <a:rPr lang="tr-TR" altLang="en-US" sz="2400" dirty="0"/>
              <a:t> </a:t>
            </a:r>
            <a:r>
              <a:rPr lang="tr-TR" altLang="en-US" sz="2400" dirty="0" err="1"/>
              <a:t>the</a:t>
            </a:r>
            <a:r>
              <a:rPr lang="tr-TR" altLang="en-US" sz="2400" dirty="0"/>
              <a:t> </a:t>
            </a:r>
            <a:r>
              <a:rPr lang="tr-TR" altLang="en-US" sz="2400" dirty="0" err="1"/>
              <a:t>location</a:t>
            </a:r>
            <a:r>
              <a:rPr lang="tr-TR" altLang="en-US" sz="2400" dirty="0"/>
              <a:t>.</a:t>
            </a:r>
          </a:p>
          <a:p>
            <a:pPr marL="0" indent="0" eaLnBrk="1" hangingPunct="1">
              <a:buNone/>
            </a:pPr>
            <a:endParaRPr lang="tr-TR" altLang="en-US" sz="2400" dirty="0"/>
          </a:p>
          <a:p>
            <a:pPr eaLnBrk="1" hangingPunct="1"/>
            <a:r>
              <a:rPr lang="en-US" altLang="en-US" sz="2400" dirty="0"/>
              <a:t>I have taken 20 night sky image in January 14 2022.</a:t>
            </a:r>
            <a:endParaRPr lang="tr-TR" altLang="en-US" sz="2400" dirty="0"/>
          </a:p>
          <a:p>
            <a:pPr eaLnBrk="1" hangingPunct="1"/>
            <a:endParaRPr lang="tr-TR" altLang="en-US" sz="2400" dirty="0"/>
          </a:p>
          <a:p>
            <a:pPr eaLnBrk="1" hangingPunct="1"/>
            <a:r>
              <a:rPr lang="en-US" altLang="en-US" sz="2400" dirty="0"/>
              <a:t>The images I was taken, was not compatible with SPEL software. So the coordinates couldn't be determined for my images.</a:t>
            </a:r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  <a:p>
            <a:pPr marL="0" indent="0" eaLnBrk="1" hangingPunct="1">
              <a:buNone/>
            </a:pPr>
            <a:endParaRPr lang="tr-T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56789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E7CC27-EEF4-45B9-94D9-CADBD9678458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tr-TR" altLang="en-US" sz="1000" dirty="0">
              <a:solidFill>
                <a:srgbClr val="FFFFE5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en-US" sz="4000" dirty="0"/>
              <a:t>Success Criteria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7848600" cy="45720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Finding location with an appropriate image in cell phone gallery</a:t>
            </a:r>
            <a:endParaRPr lang="tr-TR" altLang="en-US" dirty="0">
              <a:solidFill>
                <a:srgbClr val="00B050"/>
              </a:solidFill>
            </a:endParaRPr>
          </a:p>
          <a:p>
            <a:pPr eaLnBrk="1" hangingPunct="1"/>
            <a:r>
              <a:rPr lang="en-US" altLang="en-US" dirty="0">
                <a:solidFill>
                  <a:srgbClr val="00B050"/>
                </a:solidFill>
              </a:rPr>
              <a:t>Finding location using front camera of the cell phone in the app.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For an image taken by a camera which optical axis is precisely parallel to the gravity direction:</a:t>
            </a: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</a:rPr>
              <a:t>Finding latitude with 0.02 degree (~2km) sensitivity</a:t>
            </a:r>
          </a:p>
          <a:p>
            <a:pPr lvl="1" eaLnBrk="1" hangingPunct="1"/>
            <a:r>
              <a:rPr lang="en-US" altLang="en-US" dirty="0">
                <a:solidFill>
                  <a:srgbClr val="FF0000"/>
                </a:solidFill>
              </a:rPr>
              <a:t>Finding longitude with 0.01 degree (~1km) sensitivity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3687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c 32">
            <a:extLst>
              <a:ext uri="{FF2B5EF4-FFF2-40B4-BE49-F238E27FC236}">
                <a16:creationId xmlns:a16="http://schemas.microsoft.com/office/drawing/2014/main" id="{F10753E0-EEAC-40BB-B394-04C067401549}"/>
              </a:ext>
            </a:extLst>
          </p:cNvPr>
          <p:cNvSpPr/>
          <p:nvPr/>
        </p:nvSpPr>
        <p:spPr>
          <a:xfrm>
            <a:off x="1348751" y="2848367"/>
            <a:ext cx="1611625" cy="1611625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chemeClr val="tx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1652C72C-2EFA-46A2-BA21-2874D14B469F}"/>
              </a:ext>
            </a:extLst>
          </p:cNvPr>
          <p:cNvSpPr/>
          <p:nvPr/>
        </p:nvSpPr>
        <p:spPr>
          <a:xfrm>
            <a:off x="2960376" y="2848367"/>
            <a:ext cx="1611625" cy="1611625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chemeClr val="tx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FCF54EDB-F070-40CF-834A-FAD62138640C}"/>
              </a:ext>
            </a:extLst>
          </p:cNvPr>
          <p:cNvSpPr/>
          <p:nvPr/>
        </p:nvSpPr>
        <p:spPr>
          <a:xfrm>
            <a:off x="4572001" y="2848367"/>
            <a:ext cx="1611625" cy="1611625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chemeClr val="tx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04EC95D-4E10-4EE5-A949-5A7CCC65BD6A}"/>
              </a:ext>
            </a:extLst>
          </p:cNvPr>
          <p:cNvSpPr/>
          <p:nvPr/>
        </p:nvSpPr>
        <p:spPr>
          <a:xfrm>
            <a:off x="6183625" y="2848367"/>
            <a:ext cx="1611625" cy="1611625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chemeClr val="tx1">
                <a:alpha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330573F7-2D44-441D-857F-9A80BE7333D3}"/>
              </a:ext>
            </a:extLst>
          </p:cNvPr>
          <p:cNvSpPr/>
          <p:nvPr/>
        </p:nvSpPr>
        <p:spPr>
          <a:xfrm>
            <a:off x="1348751" y="2848367"/>
            <a:ext cx="1611625" cy="1611625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DC886DFC-0B0B-4E66-9D43-5D97D1530CEF}"/>
              </a:ext>
            </a:extLst>
          </p:cNvPr>
          <p:cNvSpPr/>
          <p:nvPr/>
        </p:nvSpPr>
        <p:spPr>
          <a:xfrm>
            <a:off x="2960376" y="2848367"/>
            <a:ext cx="1611625" cy="1611625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2372F37B-5C86-4631-92DA-78359228A5F2}"/>
              </a:ext>
            </a:extLst>
          </p:cNvPr>
          <p:cNvSpPr/>
          <p:nvPr/>
        </p:nvSpPr>
        <p:spPr>
          <a:xfrm>
            <a:off x="4572001" y="2848367"/>
            <a:ext cx="1611625" cy="1611625"/>
          </a:xfrm>
          <a:prstGeom prst="arc">
            <a:avLst>
              <a:gd name="adj1" fmla="val 15698"/>
              <a:gd name="adj2" fmla="val 10801070"/>
            </a:avLst>
          </a:prstGeom>
          <a:ln w="2540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9E0CFEFD-D4C0-4ADF-89C7-47FB019AC089}"/>
              </a:ext>
            </a:extLst>
          </p:cNvPr>
          <p:cNvSpPr/>
          <p:nvPr/>
        </p:nvSpPr>
        <p:spPr>
          <a:xfrm>
            <a:off x="6183625" y="2848367"/>
            <a:ext cx="1611625" cy="1611625"/>
          </a:xfrm>
          <a:prstGeom prst="arc">
            <a:avLst>
              <a:gd name="adj1" fmla="val 10802931"/>
              <a:gd name="adj2" fmla="val 5806"/>
            </a:avLst>
          </a:prstGeom>
          <a:ln w="2540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42" name="Oval Callout 25">
            <a:extLst>
              <a:ext uri="{FF2B5EF4-FFF2-40B4-BE49-F238E27FC236}">
                <a16:creationId xmlns:a16="http://schemas.microsoft.com/office/drawing/2014/main" id="{AF22BFEF-18FC-4E07-A207-8BF2A32025B4}"/>
              </a:ext>
            </a:extLst>
          </p:cNvPr>
          <p:cNvSpPr/>
          <p:nvPr/>
        </p:nvSpPr>
        <p:spPr>
          <a:xfrm rot="10800000">
            <a:off x="6453047" y="3106318"/>
            <a:ext cx="1102352" cy="1081267"/>
          </a:xfrm>
          <a:prstGeom prst="wedgeEllipseCallout">
            <a:avLst>
              <a:gd name="adj1" fmla="val -183"/>
              <a:gd name="adj2" fmla="val 101654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73" name="Oval Callout 25">
            <a:extLst>
              <a:ext uri="{FF2B5EF4-FFF2-40B4-BE49-F238E27FC236}">
                <a16:creationId xmlns:a16="http://schemas.microsoft.com/office/drawing/2014/main" id="{9D0EC112-F655-4FA4-897E-3F95387AF5BC}"/>
              </a:ext>
            </a:extLst>
          </p:cNvPr>
          <p:cNvSpPr/>
          <p:nvPr/>
        </p:nvSpPr>
        <p:spPr>
          <a:xfrm rot="10800000">
            <a:off x="3229798" y="3106318"/>
            <a:ext cx="1102352" cy="1081267"/>
          </a:xfrm>
          <a:prstGeom prst="wedgeEllipseCallout">
            <a:avLst>
              <a:gd name="adj1" fmla="val -183"/>
              <a:gd name="adj2" fmla="val 1016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74" name="Oval Callout 25">
            <a:extLst>
              <a:ext uri="{FF2B5EF4-FFF2-40B4-BE49-F238E27FC236}">
                <a16:creationId xmlns:a16="http://schemas.microsoft.com/office/drawing/2014/main" id="{D1288F12-032B-4A56-A95D-5B25BAF10FF5}"/>
              </a:ext>
            </a:extLst>
          </p:cNvPr>
          <p:cNvSpPr/>
          <p:nvPr/>
        </p:nvSpPr>
        <p:spPr>
          <a:xfrm>
            <a:off x="1605550" y="3121961"/>
            <a:ext cx="1102352" cy="1081267"/>
          </a:xfrm>
          <a:prstGeom prst="wedgeEllipseCallout">
            <a:avLst>
              <a:gd name="adj1" fmla="val -183"/>
              <a:gd name="adj2" fmla="val 10165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75" name="Oval Callout 25">
            <a:extLst>
              <a:ext uri="{FF2B5EF4-FFF2-40B4-BE49-F238E27FC236}">
                <a16:creationId xmlns:a16="http://schemas.microsoft.com/office/drawing/2014/main" id="{5EE7959A-8308-4510-A957-3EF813B5DF1B}"/>
              </a:ext>
            </a:extLst>
          </p:cNvPr>
          <p:cNvSpPr/>
          <p:nvPr/>
        </p:nvSpPr>
        <p:spPr>
          <a:xfrm>
            <a:off x="4828800" y="3121961"/>
            <a:ext cx="1102352" cy="1081267"/>
          </a:xfrm>
          <a:prstGeom prst="wedgeEllipseCallout">
            <a:avLst>
              <a:gd name="adj1" fmla="val -183"/>
              <a:gd name="adj2" fmla="val 10165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BF09F8-0BD0-48EB-95EA-AB8DEA6E704A}"/>
              </a:ext>
            </a:extLst>
          </p:cNvPr>
          <p:cNvSpPr txBox="1"/>
          <p:nvPr/>
        </p:nvSpPr>
        <p:spPr>
          <a:xfrm>
            <a:off x="1087419" y="4745590"/>
            <a:ext cx="1933291" cy="4154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1.Presentation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2EF9CB1-0829-44BC-AE0D-B7855008C1D1}"/>
              </a:ext>
            </a:extLst>
          </p:cNvPr>
          <p:cNvSpPr txBox="1"/>
          <p:nvPr/>
        </p:nvSpPr>
        <p:spPr>
          <a:xfrm>
            <a:off x="6133955" y="1833636"/>
            <a:ext cx="2476645" cy="738664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100" b="1" dirty="0">
                <a:solidFill>
                  <a:schemeClr val="accent6">
                    <a:lumMod val="50000"/>
                  </a:schemeClr>
                </a:solidFill>
              </a:rPr>
              <a:t>Last Presentation</a:t>
            </a:r>
            <a:r>
              <a:rPr lang="tr-TR" sz="2100" b="1" dirty="0">
                <a:solidFill>
                  <a:schemeClr val="accent6">
                    <a:lumMod val="50000"/>
                  </a:schemeClr>
                </a:solidFill>
              </a:rPr>
              <a:t>/Demo</a:t>
            </a:r>
            <a:endParaRPr lang="en-US" sz="21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Graphic 9" descr="Gauge">
            <a:extLst>
              <a:ext uri="{FF2B5EF4-FFF2-40B4-BE49-F238E27FC236}">
                <a16:creationId xmlns:a16="http://schemas.microsoft.com/office/drawing/2014/main" id="{6A251A1F-30D8-42FB-98E3-8D40FBA8D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8118" y="3329388"/>
            <a:ext cx="635126" cy="635126"/>
          </a:xfrm>
          <a:prstGeom prst="rect">
            <a:avLst/>
          </a:prstGeom>
        </p:spPr>
      </p:pic>
      <p:pic>
        <p:nvPicPr>
          <p:cNvPr id="12" name="Graphic 11" descr="Shopping cart">
            <a:extLst>
              <a:ext uri="{FF2B5EF4-FFF2-40B4-BE49-F238E27FC236}">
                <a16:creationId xmlns:a16="http://schemas.microsoft.com/office/drawing/2014/main" id="{68B21BE0-05B6-40B2-8CD0-D200DFDC5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6659" y="3345031"/>
            <a:ext cx="635126" cy="635126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E31AEB44-BD0A-4C07-B972-6A9BF8C4B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1225" y="3028751"/>
            <a:ext cx="1102352" cy="1102352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0979CBA3-FCBB-49BA-BADF-5E3DCA3AC3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9796" y="3079595"/>
            <a:ext cx="1102352" cy="115253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5484E1A-56C8-46EE-8EEB-B045F61BBF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7286" y="3028751"/>
            <a:ext cx="1469753" cy="108578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E3649618-9F29-4625-BB68-A0C71985EA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3838" y="2978633"/>
            <a:ext cx="1421411" cy="108126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BA7E499E-88E9-4DAF-8BD1-A5AC376AC09E}"/>
              </a:ext>
            </a:extLst>
          </p:cNvPr>
          <p:cNvSpPr txBox="1">
            <a:spLocks noChangeArrowheads="1"/>
          </p:cNvSpPr>
          <p:nvPr/>
        </p:nvSpPr>
        <p:spPr>
          <a:xfrm>
            <a:off x="2532094" y="1143000"/>
            <a:ext cx="2526024" cy="100743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1400" kern="0" dirty="0">
                <a:solidFill>
                  <a:srgbClr val="00B050"/>
                </a:solidFill>
              </a:rPr>
              <a:t>--</a:t>
            </a:r>
            <a:r>
              <a:rPr lang="en-US" altLang="en-US" sz="1400" kern="0" dirty="0">
                <a:solidFill>
                  <a:srgbClr val="00B050"/>
                </a:solidFill>
              </a:rPr>
              <a:t>Understanding and implementing Centroiding algorithm and Star Identification Algorithm</a:t>
            </a:r>
            <a:endParaRPr lang="tr-TR" altLang="en-US" sz="1400" kern="0" dirty="0">
              <a:solidFill>
                <a:srgbClr val="00B050"/>
              </a:solidFill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D36A6830-A3C8-4760-B5E0-E2D6B4AFC67B}"/>
              </a:ext>
            </a:extLst>
          </p:cNvPr>
          <p:cNvSpPr txBox="1">
            <a:spLocks noChangeArrowheads="1"/>
          </p:cNvSpPr>
          <p:nvPr/>
        </p:nvSpPr>
        <p:spPr>
          <a:xfrm>
            <a:off x="4216283" y="5076924"/>
            <a:ext cx="2209801" cy="104281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1400" kern="0" dirty="0">
                <a:solidFill>
                  <a:srgbClr val="00B050"/>
                </a:solidFill>
              </a:rPr>
              <a:t>--</a:t>
            </a:r>
            <a:r>
              <a:rPr lang="en-US" altLang="en-US" sz="1400" kern="0" dirty="0">
                <a:solidFill>
                  <a:srgbClr val="00B050"/>
                </a:solidFill>
              </a:rPr>
              <a:t>Detecting location from appropriate night sky image</a:t>
            </a:r>
            <a:endParaRPr lang="tr-TR" altLang="en-US" sz="1400" kern="0" dirty="0">
              <a:solidFill>
                <a:srgbClr val="00B050"/>
              </a:solidFill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380A83A4-16C4-4CC0-B75D-D24A0663E206}"/>
              </a:ext>
            </a:extLst>
          </p:cNvPr>
          <p:cNvSpPr txBox="1">
            <a:spLocks noChangeArrowheads="1"/>
          </p:cNvSpPr>
          <p:nvPr/>
        </p:nvSpPr>
        <p:spPr>
          <a:xfrm>
            <a:off x="5752993" y="1427302"/>
            <a:ext cx="3137584" cy="81576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1400" kern="0" dirty="0">
                <a:solidFill>
                  <a:srgbClr val="00B050"/>
                </a:solidFill>
              </a:rPr>
              <a:t>-- Implementing mobile application</a:t>
            </a:r>
          </a:p>
          <a:p>
            <a:pPr marL="0" indent="0" eaLnBrk="1" hangingPunct="1">
              <a:buNone/>
            </a:pPr>
            <a:r>
              <a:rPr lang="en-US" altLang="en-US" sz="1400" kern="0" dirty="0">
                <a:solidFill>
                  <a:srgbClr val="00B050"/>
                </a:solidFill>
              </a:rPr>
              <a:t>-- Test the application</a:t>
            </a:r>
            <a:endParaRPr lang="tr-TR" altLang="en-US" sz="1400" kern="0" dirty="0">
              <a:solidFill>
                <a:srgbClr val="00B050"/>
              </a:solidFill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CD65D89E-91B9-4D52-BDF4-A62AC53D854E}"/>
              </a:ext>
            </a:extLst>
          </p:cNvPr>
          <p:cNvSpPr txBox="1">
            <a:spLocks noChangeArrowheads="1"/>
          </p:cNvSpPr>
          <p:nvPr/>
        </p:nvSpPr>
        <p:spPr>
          <a:xfrm>
            <a:off x="950420" y="5137137"/>
            <a:ext cx="2402380" cy="1111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tr-TR" altLang="en-US" sz="1400" kern="0" dirty="0">
                <a:solidFill>
                  <a:srgbClr val="00B050"/>
                </a:solidFill>
              </a:rPr>
              <a:t>--</a:t>
            </a:r>
            <a:r>
              <a:rPr lang="en-US" altLang="en-US" sz="1400" kern="0" dirty="0">
                <a:solidFill>
                  <a:srgbClr val="00B050"/>
                </a:solidFill>
              </a:rPr>
              <a:t> Defining project</a:t>
            </a:r>
          </a:p>
          <a:p>
            <a:pPr marL="0" indent="0" eaLnBrk="1" hangingPunct="1">
              <a:buNone/>
            </a:pPr>
            <a:r>
              <a:rPr lang="en-US" altLang="en-US" sz="1400" kern="0" dirty="0">
                <a:solidFill>
                  <a:srgbClr val="00B050"/>
                </a:solidFill>
              </a:rPr>
              <a:t>-- Explaining how to solve problem</a:t>
            </a:r>
          </a:p>
          <a:p>
            <a:pPr marL="0" indent="0" eaLnBrk="1" hangingPunct="1">
              <a:buNone/>
            </a:pPr>
            <a:r>
              <a:rPr lang="en-US" altLang="en-US" sz="1400" kern="0" dirty="0">
                <a:solidFill>
                  <a:srgbClr val="00B050"/>
                </a:solidFill>
              </a:rPr>
              <a:t>-- Defining success criteria</a:t>
            </a:r>
            <a:r>
              <a:rPr lang="tr-TR" altLang="en-US" sz="1400" kern="0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8" name="TextBox 79">
            <a:extLst>
              <a:ext uri="{FF2B5EF4-FFF2-40B4-BE49-F238E27FC236}">
                <a16:creationId xmlns:a16="http://schemas.microsoft.com/office/drawing/2014/main" id="{728C632F-1B84-49B4-9E54-1CF7209156EA}"/>
              </a:ext>
            </a:extLst>
          </p:cNvPr>
          <p:cNvSpPr txBox="1"/>
          <p:nvPr/>
        </p:nvSpPr>
        <p:spPr>
          <a:xfrm>
            <a:off x="2867309" y="2057400"/>
            <a:ext cx="1933291" cy="4154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2.Presentation</a:t>
            </a:r>
          </a:p>
        </p:txBody>
      </p:sp>
      <p:sp>
        <p:nvSpPr>
          <p:cNvPr id="31" name="TextBox 79">
            <a:extLst>
              <a:ext uri="{FF2B5EF4-FFF2-40B4-BE49-F238E27FC236}">
                <a16:creationId xmlns:a16="http://schemas.microsoft.com/office/drawing/2014/main" id="{5C0CA836-84D7-41F5-AC09-0AB04678016B}"/>
              </a:ext>
            </a:extLst>
          </p:cNvPr>
          <p:cNvSpPr txBox="1"/>
          <p:nvPr/>
        </p:nvSpPr>
        <p:spPr>
          <a:xfrm>
            <a:off x="4315109" y="4648200"/>
            <a:ext cx="1933291" cy="415498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100" b="1" dirty="0">
                <a:solidFill>
                  <a:schemeClr val="accent2">
                    <a:lumMod val="75000"/>
                  </a:schemeClr>
                </a:solidFill>
              </a:rPr>
              <a:t>3.Presentation</a:t>
            </a: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F8EA0C69-F631-4C64-AAEE-5E1703470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06363"/>
            <a:ext cx="7848600" cy="579437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Progress Plan</a:t>
            </a:r>
            <a:endParaRPr lang="tr-T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58115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3 Slayt Numarası Yer Tutucusu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1D8AB0A-D51F-497D-9892-E75B8E184080}" type="slidenum">
              <a:rPr lang="tr-TR" altLang="en-US" sz="1000">
                <a:solidFill>
                  <a:srgbClr val="FFFFE5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tr-TR" altLang="en-US" sz="1000">
              <a:solidFill>
                <a:srgbClr val="FFFFE5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Resources</a:t>
            </a:r>
            <a:endParaRPr lang="tr-TR" altLang="en-US" sz="40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tr-TR" altLang="en-US" sz="2000" dirty="0">
                <a:hlinkClick r:id="rId2"/>
              </a:rPr>
              <a:t>http://guilfordgeo.com/geo340/Navigation.html</a:t>
            </a:r>
            <a:endParaRPr lang="en-US" altLang="en-US" sz="2000" dirty="0"/>
          </a:p>
          <a:p>
            <a:pPr marL="514350" indent="-514350" eaLnBrk="1" hangingPunct="1">
              <a:buFontTx/>
              <a:buAutoNum type="arabicPeriod"/>
            </a:pPr>
            <a:r>
              <a:rPr lang="en-US" altLang="en-US" sz="2000" dirty="0"/>
              <a:t>Compass Star Tracker for GPS Applications1 Malak A. Samaan2, Daniele Mortari3, and John L. Junkins4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altLang="en-US" sz="2000" dirty="0"/>
              <a:t>Samaan, M. A., Pollock, T. C., and </a:t>
            </a:r>
            <a:r>
              <a:rPr lang="en-US" altLang="en-US" sz="2000" dirty="0" err="1"/>
              <a:t>Junkins</a:t>
            </a:r>
            <a:r>
              <a:rPr lang="en-US" altLang="en-US" sz="2000" dirty="0"/>
              <a:t>, J. L., \Predictive Centroiding for Star Trackers with the Effect of Image Smear," Journal of the Astronautical Sciences, Vol. 50, 2002, pp. 113{123.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altLang="en-US" sz="2000" dirty="0"/>
              <a:t>Berry, R., Burnell, J., \The Handbook of Astronomical Image Processing", </a:t>
            </a:r>
            <a:endParaRPr lang="tr-TR" altLang="en-US" sz="2000" dirty="0"/>
          </a:p>
          <a:p>
            <a:pPr marL="514350" indent="-514350" eaLnBrk="1" hangingPunct="1">
              <a:buFontTx/>
              <a:buAutoNum type="arabicPeriod"/>
            </a:pPr>
            <a:r>
              <a:rPr lang="tr-TR" altLang="en-US" sz="2000" dirty="0" err="1"/>
              <a:t>Mortari</a:t>
            </a:r>
            <a:r>
              <a:rPr lang="tr-TR" altLang="en-US" sz="2000" dirty="0"/>
              <a:t>, D., </a:t>
            </a:r>
            <a:r>
              <a:rPr lang="tr-TR" altLang="en-US" sz="2000" dirty="0" err="1"/>
              <a:t>Junkins</a:t>
            </a:r>
            <a:r>
              <a:rPr lang="tr-TR" altLang="en-US" sz="2000" dirty="0"/>
              <a:t>, J.L., </a:t>
            </a:r>
            <a:r>
              <a:rPr lang="tr-TR" altLang="en-US" sz="2000" dirty="0" err="1"/>
              <a:t>and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Samaan</a:t>
            </a:r>
            <a:r>
              <a:rPr lang="tr-TR" altLang="en-US" sz="2000" dirty="0"/>
              <a:t>, M.A. \</a:t>
            </a:r>
            <a:r>
              <a:rPr lang="tr-TR" altLang="en-US" sz="2000" dirty="0" err="1"/>
              <a:t>Lost</a:t>
            </a:r>
            <a:r>
              <a:rPr lang="tr-TR" altLang="en-US" sz="2000" dirty="0"/>
              <a:t>-</a:t>
            </a:r>
            <a:r>
              <a:rPr lang="tr-TR" altLang="en-US" sz="2000" dirty="0" err="1"/>
              <a:t>In</a:t>
            </a:r>
            <a:r>
              <a:rPr lang="tr-TR" altLang="en-US" sz="2000" dirty="0"/>
              <a:t>-Space </a:t>
            </a:r>
            <a:r>
              <a:rPr lang="tr-TR" altLang="en-US" sz="2000" dirty="0" err="1"/>
              <a:t>Pyramid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Algorithm</a:t>
            </a:r>
            <a:r>
              <a:rPr lang="tr-TR" altLang="en-US" sz="2000" dirty="0"/>
              <a:t> for </a:t>
            </a:r>
            <a:r>
              <a:rPr lang="tr-TR" altLang="en-US" sz="2000" dirty="0" err="1"/>
              <a:t>Robust</a:t>
            </a:r>
            <a:r>
              <a:rPr lang="tr-TR" altLang="en-US" sz="2000" dirty="0"/>
              <a:t> Star </a:t>
            </a:r>
            <a:r>
              <a:rPr lang="tr-TR" altLang="en-US" sz="2000" dirty="0" err="1"/>
              <a:t>Pattern</a:t>
            </a:r>
            <a:r>
              <a:rPr lang="tr-TR" altLang="en-US" sz="2000" dirty="0"/>
              <a:t> </a:t>
            </a:r>
            <a:r>
              <a:rPr lang="tr-TR" altLang="en-US" sz="2000" dirty="0" err="1"/>
              <a:t>Recognition</a:t>
            </a:r>
            <a:r>
              <a:rPr lang="tr-TR" altLang="en-US" sz="2000" dirty="0"/>
              <a:t>"</a:t>
            </a:r>
            <a:endParaRPr lang="en-US" altLang="en-US" sz="2000" dirty="0"/>
          </a:p>
          <a:p>
            <a:pPr marL="514350" indent="-514350" eaLnBrk="1" hangingPunct="1">
              <a:buFontTx/>
              <a:buAutoNum type="arabicPeriod"/>
            </a:pPr>
            <a:r>
              <a:rPr lang="en-US" altLang="en-US" sz="2000" dirty="0" err="1"/>
              <a:t>Mortari</a:t>
            </a:r>
            <a:r>
              <a:rPr lang="en-US" altLang="en-US" sz="2000" dirty="0"/>
              <a:t>, D. \Second Estimator of the Optimal Quaternion," Journal of Guidance, Control, and Dynamics, Vol. 23, No. 5, Sept.-Oct. 2000, pp. 885-888.</a:t>
            </a:r>
            <a:endParaRPr lang="tr-TR" altLang="en-US" sz="2000" dirty="0"/>
          </a:p>
          <a:p>
            <a:pPr marL="514350" indent="-514350" eaLnBrk="1" hangingPunct="1">
              <a:buFontTx/>
              <a:buAutoNum type="arabicPeriod"/>
            </a:pPr>
            <a:endParaRPr lang="en-US" altLang="en-US" sz="2000" dirty="0"/>
          </a:p>
          <a:p>
            <a:pPr marL="514350" indent="-514350" eaLnBrk="1" hangingPunct="1">
              <a:buFontTx/>
              <a:buAutoNum type="arabicPeriod"/>
            </a:pPr>
            <a:endParaRPr lang="en-US" altLang="en-US" sz="2000" dirty="0"/>
          </a:p>
          <a:p>
            <a:pPr marL="514350" indent="-514350" eaLnBrk="1" hangingPunct="1">
              <a:buFontTx/>
              <a:buNone/>
            </a:pPr>
            <a:br>
              <a:rPr lang="tr-TR" altLang="en-US" sz="2000" dirty="0"/>
            </a:br>
            <a:r>
              <a:rPr lang="tr-TR" alt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0000"/>
        </a:solidFill>
        <a:ln w="9525" cap="flat" cmpd="sng" algn="ctr">
          <a:solidFill>
            <a:srgbClr val="8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r-T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2735</TotalTime>
  <Words>653</Words>
  <Application>Microsoft Office PowerPoint</Application>
  <PresentationFormat>Ekran Gösterisi (4:3)</PresentationFormat>
  <Paragraphs>142</Paragraphs>
  <Slides>18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1" baseType="lpstr">
      <vt:lpstr>Arial</vt:lpstr>
      <vt:lpstr>Tahoma</vt:lpstr>
      <vt:lpstr>Default Design</vt:lpstr>
      <vt:lpstr>Compass Star Tracker Mobile App  GTU COMPUTER ENG CSE 496 FINAL PRESENTATION</vt:lpstr>
      <vt:lpstr>Compass Star Tracker</vt:lpstr>
      <vt:lpstr>Articales</vt:lpstr>
      <vt:lpstr>PowerPoint Sunusu</vt:lpstr>
      <vt:lpstr>PowerPoint Sunusu</vt:lpstr>
      <vt:lpstr>Night Sky Image</vt:lpstr>
      <vt:lpstr>How to Take Photo</vt:lpstr>
      <vt:lpstr>Finding Cordinate - Attitude</vt:lpstr>
      <vt:lpstr>SPEL - Open Star Tracker</vt:lpstr>
      <vt:lpstr>Problem Formula</vt:lpstr>
      <vt:lpstr>Application Structure</vt:lpstr>
      <vt:lpstr>Night Sky Images</vt:lpstr>
      <vt:lpstr>Results</vt:lpstr>
      <vt:lpstr>How to Take Photo</vt:lpstr>
      <vt:lpstr>Results</vt:lpstr>
      <vt:lpstr>Success Criteria</vt:lpstr>
      <vt:lpstr>Progress Plan</vt:lpstr>
      <vt:lpstr>Resources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formati</dc:title>
  <dc:creator>inanc tahrali</dc:creator>
  <cp:lastModifiedBy>yusuf abdullah arslanalp</cp:lastModifiedBy>
  <cp:revision>264</cp:revision>
  <dcterms:created xsi:type="dcterms:W3CDTF">2007-08-26T20:02:13Z</dcterms:created>
  <dcterms:modified xsi:type="dcterms:W3CDTF">2022-01-19T04:11:09Z</dcterms:modified>
</cp:coreProperties>
</file>